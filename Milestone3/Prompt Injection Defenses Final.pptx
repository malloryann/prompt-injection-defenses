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Ultra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ltr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48ae7e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948ae7e9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948ae7e9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948ae7e9a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94542b6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94542b64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94542b64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d94542b649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hyperlink" Target="http://drive.google.com/file/d/1cIjAwMP3mc1f7zf2npc1AgGRvxGxAePt/view" TargetMode="External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142" l="0" r="0" t="-31636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2792071" y="-352429"/>
            <a:ext cx="10991858" cy="10991858"/>
          </a:xfrm>
          <a:custGeom>
            <a:rect b="b" l="l" r="r" t="t"/>
            <a:pathLst>
              <a:path extrusionOk="0" h="10991858" w="10991858">
                <a:moveTo>
                  <a:pt x="0" y="0"/>
                </a:moveTo>
                <a:lnTo>
                  <a:pt x="10991858" y="0"/>
                </a:lnTo>
                <a:lnTo>
                  <a:pt x="10991858" y="10991858"/>
                </a:lnTo>
                <a:lnTo>
                  <a:pt x="0" y="109918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flipH="1">
            <a:off x="-5899152" y="-197736"/>
            <a:ext cx="10991858" cy="10991858"/>
          </a:xfrm>
          <a:custGeom>
            <a:rect b="b" l="l" r="r" t="t"/>
            <a:pathLst>
              <a:path extrusionOk="0" h="10991858" w="10991858">
                <a:moveTo>
                  <a:pt x="10991858" y="0"/>
                </a:moveTo>
                <a:lnTo>
                  <a:pt x="0" y="0"/>
                </a:lnTo>
                <a:lnTo>
                  <a:pt x="0" y="10991859"/>
                </a:lnTo>
                <a:lnTo>
                  <a:pt x="10991858" y="10991859"/>
                </a:lnTo>
                <a:lnTo>
                  <a:pt x="10991858" y="0"/>
                </a:lnTo>
                <a:close/>
              </a:path>
            </a:pathLst>
          </a:custGeom>
          <a:blipFill rotWithShape="1">
            <a:blip r:embed="rId4">
              <a:alphaModFix amt="44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2228208" y="3428991"/>
            <a:ext cx="14314733" cy="2701906"/>
          </a:xfrm>
          <a:custGeom>
            <a:rect b="b" l="l" r="r" t="t"/>
            <a:pathLst>
              <a:path extrusionOk="0" h="2701906" w="14314733">
                <a:moveTo>
                  <a:pt x="0" y="0"/>
                </a:moveTo>
                <a:lnTo>
                  <a:pt x="14314733" y="0"/>
                </a:lnTo>
                <a:lnTo>
                  <a:pt x="14314733" y="2701905"/>
                </a:lnTo>
                <a:lnTo>
                  <a:pt x="0" y="27019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3690696" y="3761051"/>
            <a:ext cx="1018816" cy="1582906"/>
          </a:xfrm>
          <a:custGeom>
            <a:rect b="b" l="l" r="r" t="t"/>
            <a:pathLst>
              <a:path extrusionOk="0" h="1582906" w="1018816">
                <a:moveTo>
                  <a:pt x="0" y="0"/>
                </a:moveTo>
                <a:lnTo>
                  <a:pt x="1018816" y="0"/>
                </a:lnTo>
                <a:lnTo>
                  <a:pt x="1018816" y="1582907"/>
                </a:lnTo>
                <a:lnTo>
                  <a:pt x="0" y="1582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7146353" y="1935029"/>
            <a:ext cx="572681" cy="571639"/>
          </a:xfrm>
          <a:custGeom>
            <a:rect b="b" l="l" r="r" t="t"/>
            <a:pathLst>
              <a:path extrusionOk="0" h="571639" w="572681">
                <a:moveTo>
                  <a:pt x="0" y="0"/>
                </a:moveTo>
                <a:lnTo>
                  <a:pt x="572680" y="0"/>
                </a:lnTo>
                <a:lnTo>
                  <a:pt x="572680" y="571639"/>
                </a:lnTo>
                <a:lnTo>
                  <a:pt x="0" y="571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 txBox="1"/>
          <p:nvPr/>
        </p:nvSpPr>
        <p:spPr>
          <a:xfrm>
            <a:off x="5006706" y="4149442"/>
            <a:ext cx="10941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84">
                <a:solidFill>
                  <a:srgbClr val="FFFFFF"/>
                </a:solidFill>
              </a:rPr>
              <a:t>Prompt Injection Defenses 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06706" y="6566287"/>
            <a:ext cx="82746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19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By: Adrian Lopez and Mallory Sorola</a:t>
            </a:r>
            <a:endParaRPr sz="2719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  <a:p>
            <a:pPr indent="0" lvl="0" marL="0" marR="0" rtl="0" algn="l">
              <a:lnSpc>
                <a:spcPct val="13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19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506" l="0" r="0" t="-38272"/>
            </a:stretch>
          </a:blipFill>
          <a:ln>
            <a:noFill/>
          </a:ln>
        </p:spPr>
      </p:sp>
      <p:grpSp>
        <p:nvGrpSpPr>
          <p:cNvPr id="97" name="Google Shape;97;p14"/>
          <p:cNvGrpSpPr/>
          <p:nvPr/>
        </p:nvGrpSpPr>
        <p:grpSpPr>
          <a:xfrm>
            <a:off x="-636793" y="-622846"/>
            <a:ext cx="10429336" cy="11078283"/>
            <a:chOff x="0" y="-28575"/>
            <a:chExt cx="2746821" cy="2917737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2746821" cy="2889162"/>
            </a:xfrm>
            <a:custGeom>
              <a:rect b="b" l="l" r="r" t="t"/>
              <a:pathLst>
                <a:path extrusionOk="0" h="2889162" w="2746821">
                  <a:moveTo>
                    <a:pt x="0" y="0"/>
                  </a:moveTo>
                  <a:lnTo>
                    <a:pt x="2746821" y="0"/>
                  </a:lnTo>
                  <a:lnTo>
                    <a:pt x="2746821" y="2889162"/>
                  </a:lnTo>
                  <a:lnTo>
                    <a:pt x="0" y="2889162"/>
                  </a:lnTo>
                  <a:close/>
                </a:path>
              </a:pathLst>
            </a:custGeom>
            <a:gradFill>
              <a:gsLst>
                <a:gs pos="0">
                  <a:srgbClr val="280F34"/>
                </a:gs>
                <a:gs pos="100000">
                  <a:srgbClr val="44072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99" name="Google Shape;99;p14"/>
            <p:cNvSpPr txBox="1"/>
            <p:nvPr/>
          </p:nvSpPr>
          <p:spPr>
            <a:xfrm>
              <a:off x="0" y="-28575"/>
              <a:ext cx="2746821" cy="2917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4"/>
          <p:cNvSpPr/>
          <p:nvPr/>
        </p:nvSpPr>
        <p:spPr>
          <a:xfrm>
            <a:off x="-3762523" y="1001763"/>
            <a:ext cx="7315200" cy="1064029"/>
          </a:xfrm>
          <a:custGeom>
            <a:rect b="b" l="l" r="r" t="t"/>
            <a:pathLst>
              <a:path extrusionOk="0"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/>
          <p:nvPr/>
        </p:nvSpPr>
        <p:spPr>
          <a:xfrm>
            <a:off x="8006270" y="4137879"/>
            <a:ext cx="8822940" cy="1665330"/>
          </a:xfrm>
          <a:custGeom>
            <a:rect b="b" l="l" r="r" t="t"/>
            <a:pathLst>
              <a:path extrusionOk="0" h="1665330" w="8822940">
                <a:moveTo>
                  <a:pt x="0" y="0"/>
                </a:moveTo>
                <a:lnTo>
                  <a:pt x="8822940" y="0"/>
                </a:lnTo>
                <a:lnTo>
                  <a:pt x="8822940" y="1665329"/>
                </a:lnTo>
                <a:lnTo>
                  <a:pt x="0" y="1665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4"/>
          <p:cNvSpPr/>
          <p:nvPr/>
        </p:nvSpPr>
        <p:spPr>
          <a:xfrm>
            <a:off x="14158182" y="3086100"/>
            <a:ext cx="4129818" cy="4114800"/>
          </a:xfrm>
          <a:custGeom>
            <a:rect b="b" l="l" r="r" t="t"/>
            <a:pathLst>
              <a:path extrusionOk="0"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4"/>
          <p:cNvSpPr txBox="1"/>
          <p:nvPr/>
        </p:nvSpPr>
        <p:spPr>
          <a:xfrm>
            <a:off x="8828072" y="4582587"/>
            <a:ext cx="6944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5">
                <a:solidFill>
                  <a:srgbClr val="FFFFFF"/>
                </a:solidFill>
              </a:rPr>
              <a:t>Overview</a:t>
            </a:r>
            <a:endParaRPr/>
          </a:p>
        </p:txBody>
      </p:sp>
      <p:grpSp>
        <p:nvGrpSpPr>
          <p:cNvPr id="104" name="Google Shape;104;p14"/>
          <p:cNvGrpSpPr/>
          <p:nvPr/>
        </p:nvGrpSpPr>
        <p:grpSpPr>
          <a:xfrm>
            <a:off x="1707335" y="4542013"/>
            <a:ext cx="5620790" cy="808212"/>
            <a:chOff x="0" y="-28575"/>
            <a:chExt cx="1480373" cy="212862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1480373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1707335" y="5577081"/>
            <a:ext cx="5620790" cy="808212"/>
            <a:chOff x="0" y="-28575"/>
            <a:chExt cx="1480373" cy="212862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0" y="-28575"/>
              <a:ext cx="1480373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1707310" y="6612147"/>
            <a:ext cx="5620828" cy="808216"/>
            <a:chOff x="0" y="-28575"/>
            <a:chExt cx="1480373" cy="212862"/>
          </a:xfrm>
        </p:grpSpPr>
        <p:sp>
          <p:nvSpPr>
            <p:cNvPr id="111" name="Google Shape;111;p14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0" y="-28575"/>
              <a:ext cx="1480373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1707310" y="2446438"/>
            <a:ext cx="5620828" cy="808216"/>
            <a:chOff x="0" y="-28575"/>
            <a:chExt cx="1480373" cy="212862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0" y="-28575"/>
              <a:ext cx="1480373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4"/>
          <p:cNvSpPr txBox="1"/>
          <p:nvPr/>
        </p:nvSpPr>
        <p:spPr>
          <a:xfrm>
            <a:off x="2513177" y="4756576"/>
            <a:ext cx="367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Implemented Contributions</a:t>
            </a:r>
            <a:endParaRPr sz="1900"/>
          </a:p>
        </p:txBody>
      </p:sp>
      <p:sp>
        <p:nvSpPr>
          <p:cNvPr id="117" name="Google Shape;117;p14"/>
          <p:cNvSpPr txBox="1"/>
          <p:nvPr/>
        </p:nvSpPr>
        <p:spPr>
          <a:xfrm>
            <a:off x="2682621" y="5793200"/>
            <a:ext cx="367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Final Demo + Results</a:t>
            </a:r>
            <a:endParaRPr sz="1900"/>
          </a:p>
        </p:txBody>
      </p:sp>
      <p:sp>
        <p:nvSpPr>
          <p:cNvPr id="118" name="Google Shape;118;p14"/>
          <p:cNvSpPr txBox="1"/>
          <p:nvPr/>
        </p:nvSpPr>
        <p:spPr>
          <a:xfrm>
            <a:off x="2216307" y="6832948"/>
            <a:ext cx="4906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Before Vs. After Comparison</a:t>
            </a:r>
            <a:endParaRPr sz="1900"/>
          </a:p>
        </p:txBody>
      </p:sp>
      <p:sp>
        <p:nvSpPr>
          <p:cNvPr id="119" name="Google Shape;119;p14"/>
          <p:cNvSpPr txBox="1"/>
          <p:nvPr/>
        </p:nvSpPr>
        <p:spPr>
          <a:xfrm>
            <a:off x="2755102" y="2667250"/>
            <a:ext cx="3829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Existing Solutions</a:t>
            </a:r>
            <a:endParaRPr sz="1900"/>
          </a:p>
        </p:txBody>
      </p:sp>
      <p:grpSp>
        <p:nvGrpSpPr>
          <p:cNvPr id="120" name="Google Shape;120;p14"/>
          <p:cNvGrpSpPr/>
          <p:nvPr/>
        </p:nvGrpSpPr>
        <p:grpSpPr>
          <a:xfrm>
            <a:off x="1707310" y="7802193"/>
            <a:ext cx="5620828" cy="879247"/>
            <a:chOff x="0" y="0"/>
            <a:chExt cx="1480373" cy="231570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 txBox="1"/>
            <p:nvPr/>
          </p:nvSpPr>
          <p:spPr>
            <a:xfrm>
              <a:off x="441663" y="18570"/>
              <a:ext cx="677100" cy="2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1">
                  <a:solidFill>
                    <a:srgbClr val="FFFFFF"/>
                  </a:solidFill>
                </a:rPr>
                <a:t>Conclusion</a:t>
              </a:r>
              <a:endParaRPr sz="2381">
                <a:solidFill>
                  <a:srgbClr val="FFFFFF"/>
                </a:solidFill>
              </a:endParaRPr>
            </a:p>
            <a:p>
              <a:pPr indent="0" lvl="0" marL="0" marR="0" rtl="0" algn="l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4"/>
          <p:cNvGrpSpPr/>
          <p:nvPr/>
        </p:nvGrpSpPr>
        <p:grpSpPr>
          <a:xfrm>
            <a:off x="1707073" y="3493963"/>
            <a:ext cx="5621310" cy="808740"/>
            <a:chOff x="0" y="-28575"/>
            <a:chExt cx="1480500" cy="2130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 txBox="1"/>
            <p:nvPr/>
          </p:nvSpPr>
          <p:spPr>
            <a:xfrm>
              <a:off x="0" y="-28575"/>
              <a:ext cx="1480500" cy="2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914102" y="3715038"/>
            <a:ext cx="367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Tool Behavior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510" l="0" r="0" t="-38271"/>
            </a:stretch>
          </a:blip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>
            <a:off x="7624576" y="1236529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3" name="Google Shape;133;p15"/>
          <p:cNvGrpSpPr/>
          <p:nvPr/>
        </p:nvGrpSpPr>
        <p:grpSpPr>
          <a:xfrm>
            <a:off x="-642693" y="-94259"/>
            <a:ext cx="10429405" cy="11078595"/>
            <a:chOff x="0" y="-28575"/>
            <a:chExt cx="2746821" cy="2917800"/>
          </a:xfrm>
        </p:grpSpPr>
        <p:sp>
          <p:nvSpPr>
            <p:cNvPr id="134" name="Google Shape;134;p15"/>
            <p:cNvSpPr/>
            <p:nvPr/>
          </p:nvSpPr>
          <p:spPr>
            <a:xfrm>
              <a:off x="0" y="0"/>
              <a:ext cx="2746821" cy="2889162"/>
            </a:xfrm>
            <a:custGeom>
              <a:rect b="b" l="l" r="r" t="t"/>
              <a:pathLst>
                <a:path extrusionOk="0" h="2889162" w="2746821">
                  <a:moveTo>
                    <a:pt x="0" y="0"/>
                  </a:moveTo>
                  <a:lnTo>
                    <a:pt x="2746821" y="0"/>
                  </a:lnTo>
                  <a:lnTo>
                    <a:pt x="2746821" y="2889162"/>
                  </a:lnTo>
                  <a:lnTo>
                    <a:pt x="0" y="2889162"/>
                  </a:lnTo>
                  <a:close/>
                </a:path>
              </a:pathLst>
            </a:custGeom>
            <a:gradFill>
              <a:gsLst>
                <a:gs pos="0">
                  <a:srgbClr val="280F34"/>
                </a:gs>
                <a:gs pos="100000">
                  <a:srgbClr val="44072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35" name="Google Shape;135;p15"/>
            <p:cNvSpPr txBox="1"/>
            <p:nvPr/>
          </p:nvSpPr>
          <p:spPr>
            <a:xfrm>
              <a:off x="0" y="-28575"/>
              <a:ext cx="2746800" cy="29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15"/>
          <p:cNvSpPr/>
          <p:nvPr/>
        </p:nvSpPr>
        <p:spPr>
          <a:xfrm>
            <a:off x="-172653" y="-219096"/>
            <a:ext cx="3940261" cy="3841755"/>
          </a:xfrm>
          <a:custGeom>
            <a:rect b="b" l="l" r="r" t="t"/>
            <a:pathLst>
              <a:path extrusionOk="0" h="3841755" w="3940261">
                <a:moveTo>
                  <a:pt x="0" y="0"/>
                </a:moveTo>
                <a:lnTo>
                  <a:pt x="3940261" y="0"/>
                </a:lnTo>
                <a:lnTo>
                  <a:pt x="3940261" y="3841755"/>
                </a:lnTo>
                <a:lnTo>
                  <a:pt x="0" y="3841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5"/>
          <p:cNvSpPr/>
          <p:nvPr/>
        </p:nvSpPr>
        <p:spPr>
          <a:xfrm>
            <a:off x="16600166" y="8655422"/>
            <a:ext cx="2206773" cy="2151604"/>
          </a:xfrm>
          <a:custGeom>
            <a:rect b="b" l="l" r="r" t="t"/>
            <a:pathLst>
              <a:path extrusionOk="0" h="2151604" w="2206773">
                <a:moveTo>
                  <a:pt x="0" y="0"/>
                </a:moveTo>
                <a:lnTo>
                  <a:pt x="2206773" y="0"/>
                </a:lnTo>
                <a:lnTo>
                  <a:pt x="2206773" y="2151604"/>
                </a:lnTo>
                <a:lnTo>
                  <a:pt x="0" y="2151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8" name="Google Shape;138;p15"/>
          <p:cNvGrpSpPr/>
          <p:nvPr/>
        </p:nvGrpSpPr>
        <p:grpSpPr>
          <a:xfrm>
            <a:off x="376950" y="3941051"/>
            <a:ext cx="5748849" cy="808718"/>
            <a:chOff x="0" y="-28575"/>
            <a:chExt cx="1263900" cy="213000"/>
          </a:xfrm>
        </p:grpSpPr>
        <p:sp>
          <p:nvSpPr>
            <p:cNvPr id="139" name="Google Shape;139;p15"/>
            <p:cNvSpPr/>
            <p:nvPr/>
          </p:nvSpPr>
          <p:spPr>
            <a:xfrm>
              <a:off x="0" y="0"/>
              <a:ext cx="1263767" cy="184287"/>
            </a:xfrm>
            <a:custGeom>
              <a:rect b="b" l="l" r="r" t="t"/>
              <a:pathLst>
                <a:path extrusionOk="0" h="184287" w="1263767">
                  <a:moveTo>
                    <a:pt x="92144" y="0"/>
                  </a:moveTo>
                  <a:lnTo>
                    <a:pt x="1171623" y="0"/>
                  </a:lnTo>
                  <a:cubicBezTo>
                    <a:pt x="1222512" y="0"/>
                    <a:pt x="1263767" y="41254"/>
                    <a:pt x="1263767" y="92144"/>
                  </a:cubicBezTo>
                  <a:lnTo>
                    <a:pt x="1263767" y="92144"/>
                  </a:lnTo>
                  <a:cubicBezTo>
                    <a:pt x="1263767" y="116582"/>
                    <a:pt x="1254059" y="140019"/>
                    <a:pt x="1236778" y="157299"/>
                  </a:cubicBezTo>
                  <a:cubicBezTo>
                    <a:pt x="1219498" y="174579"/>
                    <a:pt x="1196061" y="184287"/>
                    <a:pt x="1171623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0" y="-28575"/>
              <a:ext cx="1263900" cy="2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5"/>
          <p:cNvGrpSpPr/>
          <p:nvPr/>
        </p:nvGrpSpPr>
        <p:grpSpPr>
          <a:xfrm>
            <a:off x="6686375" y="3920244"/>
            <a:ext cx="5045994" cy="850360"/>
            <a:chOff x="0" y="-28575"/>
            <a:chExt cx="1263900" cy="213000"/>
          </a:xfrm>
        </p:grpSpPr>
        <p:sp>
          <p:nvSpPr>
            <p:cNvPr id="142" name="Google Shape;142;p15"/>
            <p:cNvSpPr/>
            <p:nvPr/>
          </p:nvSpPr>
          <p:spPr>
            <a:xfrm>
              <a:off x="0" y="0"/>
              <a:ext cx="1263767" cy="184287"/>
            </a:xfrm>
            <a:custGeom>
              <a:rect b="b" l="l" r="r" t="t"/>
              <a:pathLst>
                <a:path extrusionOk="0" h="184287" w="1263767">
                  <a:moveTo>
                    <a:pt x="92144" y="0"/>
                  </a:moveTo>
                  <a:lnTo>
                    <a:pt x="1171623" y="0"/>
                  </a:lnTo>
                  <a:cubicBezTo>
                    <a:pt x="1222512" y="0"/>
                    <a:pt x="1263767" y="41254"/>
                    <a:pt x="1263767" y="92144"/>
                  </a:cubicBezTo>
                  <a:lnTo>
                    <a:pt x="1263767" y="92144"/>
                  </a:lnTo>
                  <a:cubicBezTo>
                    <a:pt x="1263767" y="116582"/>
                    <a:pt x="1254059" y="140019"/>
                    <a:pt x="1236778" y="157299"/>
                  </a:cubicBezTo>
                  <a:cubicBezTo>
                    <a:pt x="1219498" y="174579"/>
                    <a:pt x="1196061" y="184287"/>
                    <a:pt x="1171623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30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125" lIns="96125" spcFirstLastPara="1" rIns="96125" wrap="square" tIns="9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0" y="-28575"/>
              <a:ext cx="1263900" cy="2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425" lIns="53425" spcFirstLastPara="1" rIns="53425" wrap="square" tIns="53425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15"/>
          <p:cNvGrpSpPr/>
          <p:nvPr/>
        </p:nvGrpSpPr>
        <p:grpSpPr>
          <a:xfrm>
            <a:off x="12293025" y="3941051"/>
            <a:ext cx="5045994" cy="808718"/>
            <a:chOff x="0" y="-28575"/>
            <a:chExt cx="1263900" cy="213000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1263767" cy="184287"/>
            </a:xfrm>
            <a:custGeom>
              <a:rect b="b" l="l" r="r" t="t"/>
              <a:pathLst>
                <a:path extrusionOk="0" h="184287" w="1263767">
                  <a:moveTo>
                    <a:pt x="92144" y="0"/>
                  </a:moveTo>
                  <a:lnTo>
                    <a:pt x="1171623" y="0"/>
                  </a:lnTo>
                  <a:cubicBezTo>
                    <a:pt x="1222512" y="0"/>
                    <a:pt x="1263767" y="41254"/>
                    <a:pt x="1263767" y="92144"/>
                  </a:cubicBezTo>
                  <a:lnTo>
                    <a:pt x="1263767" y="92144"/>
                  </a:lnTo>
                  <a:cubicBezTo>
                    <a:pt x="1263767" y="116582"/>
                    <a:pt x="1254059" y="140019"/>
                    <a:pt x="1236778" y="157299"/>
                  </a:cubicBezTo>
                  <a:cubicBezTo>
                    <a:pt x="1219498" y="174579"/>
                    <a:pt x="1196061" y="184287"/>
                    <a:pt x="1171623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0" y="-28575"/>
              <a:ext cx="1263900" cy="2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15"/>
          <p:cNvSpPr txBox="1"/>
          <p:nvPr/>
        </p:nvSpPr>
        <p:spPr>
          <a:xfrm>
            <a:off x="376925" y="5067650"/>
            <a:ext cx="5748300" cy="23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3157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19"/>
              <a:buChar char="●"/>
            </a:pPr>
            <a:r>
              <a:rPr lang="en-US" sz="2119">
                <a:solidFill>
                  <a:schemeClr val="lt1"/>
                </a:solidFill>
              </a:rPr>
              <a:t>Combined heuristic based detection with ML-based prompt injection detection</a:t>
            </a:r>
            <a:endParaRPr sz="2119">
              <a:solidFill>
                <a:schemeClr val="lt1"/>
              </a:solidFill>
            </a:endParaRPr>
          </a:p>
          <a:p>
            <a:pPr indent="-363157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19"/>
              <a:buChar char="●"/>
            </a:pPr>
            <a:r>
              <a:rPr lang="en-US" sz="2119">
                <a:solidFill>
                  <a:schemeClr val="lt1"/>
                </a:solidFill>
              </a:rPr>
              <a:t>Leveraged complementary strengths to improve overall detection robustness</a:t>
            </a:r>
            <a:endParaRPr sz="2119">
              <a:solidFill>
                <a:schemeClr val="lt1"/>
              </a:solidFill>
            </a:endParaRPr>
          </a:p>
          <a:p>
            <a:pPr indent="-363157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19"/>
              <a:buChar char="●"/>
            </a:pPr>
            <a:r>
              <a:rPr lang="en-US" sz="2119">
                <a:solidFill>
                  <a:schemeClr val="lt1"/>
                </a:solidFill>
              </a:rPr>
              <a:t>Reduced reliance on a single detection method</a:t>
            </a:r>
            <a:endParaRPr sz="2119">
              <a:solidFill>
                <a:schemeClr val="lt1"/>
              </a:solidFill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645372" y="4226426"/>
            <a:ext cx="4692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Rebuff</a:t>
            </a:r>
            <a:endParaRPr sz="2681"/>
          </a:p>
        </p:txBody>
      </p:sp>
      <p:sp>
        <p:nvSpPr>
          <p:cNvPr id="149" name="Google Shape;149;p15"/>
          <p:cNvSpPr txBox="1"/>
          <p:nvPr/>
        </p:nvSpPr>
        <p:spPr>
          <a:xfrm>
            <a:off x="6506887" y="5050850"/>
            <a:ext cx="5281800" cy="23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5125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Char char="●"/>
            </a:pPr>
            <a:r>
              <a:rPr lang="en-US" sz="2150">
                <a:solidFill>
                  <a:schemeClr val="lt1"/>
                </a:solidFill>
              </a:rPr>
              <a:t>Designed a decision rule that flags prompts if either detector is triggered</a:t>
            </a:r>
            <a:endParaRPr sz="2150">
              <a:solidFill>
                <a:schemeClr val="lt1"/>
              </a:solidFill>
            </a:endParaRPr>
          </a:p>
          <a:p>
            <a:pPr indent="-365125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Char char="●"/>
            </a:pPr>
            <a:r>
              <a:rPr lang="en-US" sz="2150">
                <a:solidFill>
                  <a:schemeClr val="lt1"/>
                </a:solidFill>
              </a:rPr>
              <a:t>Simplified integration between heuristic and ML outputs</a:t>
            </a:r>
            <a:endParaRPr sz="2150">
              <a:solidFill>
                <a:schemeClr val="lt1"/>
              </a:solidFill>
            </a:endParaRPr>
          </a:p>
          <a:p>
            <a:pPr indent="-365125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Char char="●"/>
            </a:pPr>
            <a:r>
              <a:rPr lang="en-US" sz="2150">
                <a:solidFill>
                  <a:schemeClr val="lt1"/>
                </a:solidFill>
              </a:rPr>
              <a:t>Prioritized higher recall to catch more potential attacks</a:t>
            </a:r>
            <a:endParaRPr sz="2150">
              <a:solidFill>
                <a:schemeClr val="lt1"/>
              </a:solidFill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7423449" y="4226425"/>
            <a:ext cx="3441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Vigil</a:t>
            </a:r>
            <a:endParaRPr sz="1900"/>
          </a:p>
        </p:txBody>
      </p:sp>
      <p:grpSp>
        <p:nvGrpSpPr>
          <p:cNvPr id="151" name="Google Shape;151;p15"/>
          <p:cNvGrpSpPr/>
          <p:nvPr/>
        </p:nvGrpSpPr>
        <p:grpSpPr>
          <a:xfrm>
            <a:off x="6161562" y="2339825"/>
            <a:ext cx="5964786" cy="858134"/>
            <a:chOff x="0" y="-28575"/>
            <a:chExt cx="1480500" cy="213000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303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 txBox="1"/>
            <p:nvPr/>
          </p:nvSpPr>
          <p:spPr>
            <a:xfrm>
              <a:off x="0" y="-28575"/>
              <a:ext cx="1480500" cy="2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900" lIns="53900" spcFirstLastPara="1" rIns="53900" wrap="square" tIns="539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1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5"/>
          <p:cNvSpPr txBox="1"/>
          <p:nvPr/>
        </p:nvSpPr>
        <p:spPr>
          <a:xfrm>
            <a:off x="12040450" y="5050850"/>
            <a:ext cx="6117600" cy="19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Developed a reusable analyze_prompt function to standardize detection workflow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Implemented batch processing for large prompt datasets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Structured outputs for easy evaluation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2950638" y="4161850"/>
            <a:ext cx="380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PromptInjection</a:t>
            </a:r>
            <a:endParaRPr sz="2381"/>
          </a:p>
        </p:txBody>
      </p:sp>
      <p:sp>
        <p:nvSpPr>
          <p:cNvPr id="156" name="Google Shape;156;p15"/>
          <p:cNvSpPr txBox="1"/>
          <p:nvPr/>
        </p:nvSpPr>
        <p:spPr>
          <a:xfrm>
            <a:off x="5652398" y="2461392"/>
            <a:ext cx="6983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5">
                <a:solidFill>
                  <a:srgbClr val="FFFFFF"/>
                </a:solidFill>
              </a:rPr>
              <a:t>Existing Solutions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/>
          <p:nvPr/>
        </p:nvSpPr>
        <p:spPr>
          <a:xfrm>
            <a:off x="0" y="-3746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506" l="0" r="0" t="-38272"/>
            </a:stretch>
          </a:blipFill>
          <a:ln>
            <a:noFill/>
          </a:ln>
        </p:spPr>
      </p:sp>
      <p:sp>
        <p:nvSpPr>
          <p:cNvPr id="162" name="Google Shape;162;p16"/>
          <p:cNvSpPr/>
          <p:nvPr/>
        </p:nvSpPr>
        <p:spPr>
          <a:xfrm>
            <a:off x="7624576" y="1236529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6"/>
          <p:cNvSpPr/>
          <p:nvPr/>
        </p:nvSpPr>
        <p:spPr>
          <a:xfrm>
            <a:off x="3396863" y="5057900"/>
            <a:ext cx="11494275" cy="4069603"/>
          </a:xfrm>
          <a:custGeom>
            <a:rect b="b" l="l" r="r" t="t"/>
            <a:pathLst>
              <a:path extrusionOk="0" h="4534377" w="5390047">
                <a:moveTo>
                  <a:pt x="0" y="0"/>
                </a:moveTo>
                <a:lnTo>
                  <a:pt x="5390048" y="0"/>
                </a:lnTo>
                <a:lnTo>
                  <a:pt x="5390048" y="4534377"/>
                </a:lnTo>
                <a:lnTo>
                  <a:pt x="0" y="4534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4" name="Google Shape;164;p16"/>
          <p:cNvGrpSpPr/>
          <p:nvPr/>
        </p:nvGrpSpPr>
        <p:grpSpPr>
          <a:xfrm>
            <a:off x="5940400" y="1236525"/>
            <a:ext cx="5964275" cy="857578"/>
            <a:chOff x="0" y="-28575"/>
            <a:chExt cx="1480373" cy="212862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303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0" y="-28575"/>
              <a:ext cx="1480373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900" lIns="53900" spcFirstLastPara="1" rIns="53900" wrap="square" tIns="539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1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16"/>
          <p:cNvSpPr/>
          <p:nvPr/>
        </p:nvSpPr>
        <p:spPr>
          <a:xfrm flipH="1">
            <a:off x="-8639944" y="-473771"/>
            <a:ext cx="10991858" cy="10991858"/>
          </a:xfrm>
          <a:custGeom>
            <a:rect b="b" l="l" r="r" t="t"/>
            <a:pathLst>
              <a:path extrusionOk="0" h="10991858" w="10991858">
                <a:moveTo>
                  <a:pt x="10991858" y="0"/>
                </a:moveTo>
                <a:lnTo>
                  <a:pt x="0" y="0"/>
                </a:lnTo>
                <a:lnTo>
                  <a:pt x="0" y="10991859"/>
                </a:lnTo>
                <a:lnTo>
                  <a:pt x="10991858" y="10991859"/>
                </a:lnTo>
                <a:lnTo>
                  <a:pt x="10991858" y="0"/>
                </a:lnTo>
                <a:close/>
              </a:path>
            </a:pathLst>
          </a:cu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6"/>
          <p:cNvSpPr/>
          <p:nvPr/>
        </p:nvSpPr>
        <p:spPr>
          <a:xfrm>
            <a:off x="16402451" y="3749194"/>
            <a:ext cx="2496859" cy="3334704"/>
          </a:xfrm>
          <a:custGeom>
            <a:rect b="b" l="l" r="r" t="t"/>
            <a:pathLst>
              <a:path extrusionOk="0" h="3334704" w="2496859">
                <a:moveTo>
                  <a:pt x="0" y="0"/>
                </a:moveTo>
                <a:lnTo>
                  <a:pt x="2496859" y="0"/>
                </a:lnTo>
                <a:lnTo>
                  <a:pt x="2496859" y="3334703"/>
                </a:lnTo>
                <a:lnTo>
                  <a:pt x="0" y="3334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6"/>
          <p:cNvSpPr txBox="1"/>
          <p:nvPr/>
        </p:nvSpPr>
        <p:spPr>
          <a:xfrm>
            <a:off x="3270440" y="4675617"/>
            <a:ext cx="43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5940388" y="2467275"/>
            <a:ext cx="68736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marR="0" rtl="0" algn="just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Char char="●"/>
            </a:pPr>
            <a:r>
              <a:rPr lang="en-US" sz="2619">
                <a:solidFill>
                  <a:schemeClr val="lt1"/>
                </a:solidFill>
              </a:rPr>
              <a:t>Baseline Prompt Injection Scanner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just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Filters prompts before LLM processing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just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Prints boolean validity and risk score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just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Detects common prompt injection patterns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just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Limited evaluation on predictable prompts</a:t>
            </a:r>
            <a:endParaRPr sz="2619">
              <a:solidFill>
                <a:schemeClr val="lt1"/>
              </a:solidFill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6469114" y="1405057"/>
            <a:ext cx="4906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1">
                <a:solidFill>
                  <a:srgbClr val="FFFFFF"/>
                </a:solidFill>
              </a:rPr>
              <a:t> Tool Behavior</a:t>
            </a:r>
            <a:endParaRPr sz="3000"/>
          </a:p>
        </p:txBody>
      </p:sp>
      <p:pic>
        <p:nvPicPr>
          <p:cNvPr id="172" name="Google Shape;172;p16" title="Screenshot 2026-04-27 at 3.43.44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1175" y="5407025"/>
            <a:ext cx="10970678" cy="33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0" y="-3746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510" l="0" r="0" t="-38271"/>
            </a:stretch>
          </a:blipFill>
          <a:ln>
            <a:noFill/>
          </a:ln>
        </p:spPr>
      </p:sp>
      <p:sp>
        <p:nvSpPr>
          <p:cNvPr id="178" name="Google Shape;178;p17"/>
          <p:cNvSpPr/>
          <p:nvPr/>
        </p:nvSpPr>
        <p:spPr>
          <a:xfrm>
            <a:off x="7624576" y="1236529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7"/>
          <p:cNvSpPr/>
          <p:nvPr/>
        </p:nvSpPr>
        <p:spPr>
          <a:xfrm>
            <a:off x="2565224" y="5169775"/>
            <a:ext cx="13636819" cy="2970017"/>
          </a:xfrm>
          <a:custGeom>
            <a:rect b="b" l="l" r="r" t="t"/>
            <a:pathLst>
              <a:path extrusionOk="0" h="4534377" w="5390047">
                <a:moveTo>
                  <a:pt x="0" y="0"/>
                </a:moveTo>
                <a:lnTo>
                  <a:pt x="5390048" y="0"/>
                </a:lnTo>
                <a:lnTo>
                  <a:pt x="5390048" y="4534377"/>
                </a:lnTo>
                <a:lnTo>
                  <a:pt x="0" y="4534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0" name="Google Shape;180;p17"/>
          <p:cNvGrpSpPr/>
          <p:nvPr/>
        </p:nvGrpSpPr>
        <p:grpSpPr>
          <a:xfrm>
            <a:off x="5940400" y="1236525"/>
            <a:ext cx="5964786" cy="858134"/>
            <a:chOff x="0" y="-28575"/>
            <a:chExt cx="1480500" cy="213000"/>
          </a:xfrm>
        </p:grpSpPr>
        <p:sp>
          <p:nvSpPr>
            <p:cNvPr id="181" name="Google Shape;181;p17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303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0" y="-28575"/>
              <a:ext cx="1480500" cy="2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900" lIns="53900" spcFirstLastPara="1" rIns="53900" wrap="square" tIns="539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1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7"/>
          <p:cNvSpPr/>
          <p:nvPr/>
        </p:nvSpPr>
        <p:spPr>
          <a:xfrm flipH="1">
            <a:off x="-8639944" y="-473771"/>
            <a:ext cx="10991858" cy="10991858"/>
          </a:xfrm>
          <a:custGeom>
            <a:rect b="b" l="l" r="r" t="t"/>
            <a:pathLst>
              <a:path extrusionOk="0" h="10991858" w="10991858">
                <a:moveTo>
                  <a:pt x="10991858" y="0"/>
                </a:moveTo>
                <a:lnTo>
                  <a:pt x="0" y="0"/>
                </a:lnTo>
                <a:lnTo>
                  <a:pt x="0" y="10991859"/>
                </a:lnTo>
                <a:lnTo>
                  <a:pt x="10991858" y="10991859"/>
                </a:lnTo>
                <a:lnTo>
                  <a:pt x="10991858" y="0"/>
                </a:lnTo>
                <a:close/>
              </a:path>
            </a:pathLst>
          </a:cu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7"/>
          <p:cNvSpPr txBox="1"/>
          <p:nvPr/>
        </p:nvSpPr>
        <p:spPr>
          <a:xfrm>
            <a:off x="3270440" y="4675617"/>
            <a:ext cx="43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4877175" y="2467275"/>
            <a:ext cx="9358500" cy="1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Real-time prompt analysis through multi-layer pipeline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Combines heuristic and ML-based detection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Outputs structured decision path (flag, score, final decision)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Provides explainability for each detection layer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469114" y="1405057"/>
            <a:ext cx="4906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1">
                <a:solidFill>
                  <a:srgbClr val="FFFFFF"/>
                </a:solidFill>
              </a:rPr>
              <a:t>Tool Behavior Cont.</a:t>
            </a:r>
            <a:endParaRPr sz="3000"/>
          </a:p>
        </p:txBody>
      </p:sp>
      <p:pic>
        <p:nvPicPr>
          <p:cNvPr id="187" name="Google Shape;187;p17" title="Screenshot 2026-04-27 at 3.40.50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0700" y="5564634"/>
            <a:ext cx="13632998" cy="2170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506" l="0" r="0" t="-38272"/>
            </a:stretch>
          </a:blipFill>
          <a:ln>
            <a:noFill/>
          </a:ln>
        </p:spPr>
      </p:sp>
      <p:sp>
        <p:nvSpPr>
          <p:cNvPr id="193" name="Google Shape;193;p18"/>
          <p:cNvSpPr/>
          <p:nvPr/>
        </p:nvSpPr>
        <p:spPr>
          <a:xfrm>
            <a:off x="7624576" y="1236529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4" name="Google Shape;194;p18"/>
          <p:cNvGrpSpPr/>
          <p:nvPr/>
        </p:nvGrpSpPr>
        <p:grpSpPr>
          <a:xfrm>
            <a:off x="-642693" y="-94259"/>
            <a:ext cx="10429405" cy="11078356"/>
            <a:chOff x="0" y="-28575"/>
            <a:chExt cx="2746821" cy="2917737"/>
          </a:xfrm>
        </p:grpSpPr>
        <p:sp>
          <p:nvSpPr>
            <p:cNvPr id="195" name="Google Shape;195;p18"/>
            <p:cNvSpPr/>
            <p:nvPr/>
          </p:nvSpPr>
          <p:spPr>
            <a:xfrm>
              <a:off x="0" y="0"/>
              <a:ext cx="2746821" cy="2889162"/>
            </a:xfrm>
            <a:custGeom>
              <a:rect b="b" l="l" r="r" t="t"/>
              <a:pathLst>
                <a:path extrusionOk="0" h="2889162" w="2746821">
                  <a:moveTo>
                    <a:pt x="0" y="0"/>
                  </a:moveTo>
                  <a:lnTo>
                    <a:pt x="2746821" y="0"/>
                  </a:lnTo>
                  <a:lnTo>
                    <a:pt x="2746821" y="2889162"/>
                  </a:lnTo>
                  <a:lnTo>
                    <a:pt x="0" y="2889162"/>
                  </a:lnTo>
                  <a:close/>
                </a:path>
              </a:pathLst>
            </a:custGeom>
            <a:gradFill>
              <a:gsLst>
                <a:gs pos="0">
                  <a:srgbClr val="280F34"/>
                </a:gs>
                <a:gs pos="100000">
                  <a:srgbClr val="44072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6" name="Google Shape;196;p18"/>
            <p:cNvSpPr txBox="1"/>
            <p:nvPr/>
          </p:nvSpPr>
          <p:spPr>
            <a:xfrm>
              <a:off x="0" y="-28575"/>
              <a:ext cx="2746821" cy="2917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18"/>
          <p:cNvSpPr/>
          <p:nvPr/>
        </p:nvSpPr>
        <p:spPr>
          <a:xfrm>
            <a:off x="-172653" y="-219096"/>
            <a:ext cx="3940261" cy="3841755"/>
          </a:xfrm>
          <a:custGeom>
            <a:rect b="b" l="l" r="r" t="t"/>
            <a:pathLst>
              <a:path extrusionOk="0" h="3841755" w="3940261">
                <a:moveTo>
                  <a:pt x="0" y="0"/>
                </a:moveTo>
                <a:lnTo>
                  <a:pt x="3940261" y="0"/>
                </a:lnTo>
                <a:lnTo>
                  <a:pt x="3940261" y="3841755"/>
                </a:lnTo>
                <a:lnTo>
                  <a:pt x="0" y="3841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8"/>
          <p:cNvSpPr/>
          <p:nvPr/>
        </p:nvSpPr>
        <p:spPr>
          <a:xfrm>
            <a:off x="16600166" y="8655422"/>
            <a:ext cx="2206773" cy="2151604"/>
          </a:xfrm>
          <a:custGeom>
            <a:rect b="b" l="l" r="r" t="t"/>
            <a:pathLst>
              <a:path extrusionOk="0" h="2151604" w="2206773">
                <a:moveTo>
                  <a:pt x="0" y="0"/>
                </a:moveTo>
                <a:lnTo>
                  <a:pt x="2206773" y="0"/>
                </a:lnTo>
                <a:lnTo>
                  <a:pt x="2206773" y="2151604"/>
                </a:lnTo>
                <a:lnTo>
                  <a:pt x="0" y="2151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9" name="Google Shape;199;p18"/>
          <p:cNvGrpSpPr/>
          <p:nvPr/>
        </p:nvGrpSpPr>
        <p:grpSpPr>
          <a:xfrm>
            <a:off x="376950" y="3941051"/>
            <a:ext cx="5748244" cy="808194"/>
            <a:chOff x="0" y="-28575"/>
            <a:chExt cx="1263767" cy="212862"/>
          </a:xfrm>
        </p:grpSpPr>
        <p:sp>
          <p:nvSpPr>
            <p:cNvPr id="200" name="Google Shape;200;p18"/>
            <p:cNvSpPr/>
            <p:nvPr/>
          </p:nvSpPr>
          <p:spPr>
            <a:xfrm>
              <a:off x="0" y="0"/>
              <a:ext cx="1263767" cy="184287"/>
            </a:xfrm>
            <a:custGeom>
              <a:rect b="b" l="l" r="r" t="t"/>
              <a:pathLst>
                <a:path extrusionOk="0" h="184287" w="1263767">
                  <a:moveTo>
                    <a:pt x="92144" y="0"/>
                  </a:moveTo>
                  <a:lnTo>
                    <a:pt x="1171623" y="0"/>
                  </a:lnTo>
                  <a:cubicBezTo>
                    <a:pt x="1222512" y="0"/>
                    <a:pt x="1263767" y="41254"/>
                    <a:pt x="1263767" y="92144"/>
                  </a:cubicBezTo>
                  <a:lnTo>
                    <a:pt x="1263767" y="92144"/>
                  </a:lnTo>
                  <a:cubicBezTo>
                    <a:pt x="1263767" y="116582"/>
                    <a:pt x="1254059" y="140019"/>
                    <a:pt x="1236778" y="157299"/>
                  </a:cubicBezTo>
                  <a:cubicBezTo>
                    <a:pt x="1219498" y="174579"/>
                    <a:pt x="1196061" y="184287"/>
                    <a:pt x="1171623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0" y="-28575"/>
              <a:ext cx="1263767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6686375" y="3920244"/>
            <a:ext cx="5045463" cy="849809"/>
            <a:chOff x="0" y="-28575"/>
            <a:chExt cx="1263767" cy="212862"/>
          </a:xfrm>
        </p:grpSpPr>
        <p:sp>
          <p:nvSpPr>
            <p:cNvPr id="203" name="Google Shape;203;p18"/>
            <p:cNvSpPr/>
            <p:nvPr/>
          </p:nvSpPr>
          <p:spPr>
            <a:xfrm>
              <a:off x="0" y="0"/>
              <a:ext cx="1263767" cy="184287"/>
            </a:xfrm>
            <a:custGeom>
              <a:rect b="b" l="l" r="r" t="t"/>
              <a:pathLst>
                <a:path extrusionOk="0" h="184287" w="1263767">
                  <a:moveTo>
                    <a:pt x="92144" y="0"/>
                  </a:moveTo>
                  <a:lnTo>
                    <a:pt x="1171623" y="0"/>
                  </a:lnTo>
                  <a:cubicBezTo>
                    <a:pt x="1222512" y="0"/>
                    <a:pt x="1263767" y="41254"/>
                    <a:pt x="1263767" y="92144"/>
                  </a:cubicBezTo>
                  <a:lnTo>
                    <a:pt x="1263767" y="92144"/>
                  </a:lnTo>
                  <a:cubicBezTo>
                    <a:pt x="1263767" y="116582"/>
                    <a:pt x="1254059" y="140019"/>
                    <a:pt x="1236778" y="157299"/>
                  </a:cubicBezTo>
                  <a:cubicBezTo>
                    <a:pt x="1219498" y="174579"/>
                    <a:pt x="1196061" y="184287"/>
                    <a:pt x="1171623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30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125" lIns="96125" spcFirstLastPara="1" rIns="96125" wrap="square" tIns="9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0" y="-28575"/>
              <a:ext cx="1263767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425" lIns="53425" spcFirstLastPara="1" rIns="53425" wrap="square" tIns="53425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12293025" y="3941051"/>
            <a:ext cx="5045463" cy="808194"/>
            <a:chOff x="0" y="-28575"/>
            <a:chExt cx="1263767" cy="212862"/>
          </a:xfrm>
        </p:grpSpPr>
        <p:sp>
          <p:nvSpPr>
            <p:cNvPr id="206" name="Google Shape;206;p18"/>
            <p:cNvSpPr/>
            <p:nvPr/>
          </p:nvSpPr>
          <p:spPr>
            <a:xfrm>
              <a:off x="0" y="0"/>
              <a:ext cx="1263767" cy="184287"/>
            </a:xfrm>
            <a:custGeom>
              <a:rect b="b" l="l" r="r" t="t"/>
              <a:pathLst>
                <a:path extrusionOk="0" h="184287" w="1263767">
                  <a:moveTo>
                    <a:pt x="92144" y="0"/>
                  </a:moveTo>
                  <a:lnTo>
                    <a:pt x="1171623" y="0"/>
                  </a:lnTo>
                  <a:cubicBezTo>
                    <a:pt x="1222512" y="0"/>
                    <a:pt x="1263767" y="41254"/>
                    <a:pt x="1263767" y="92144"/>
                  </a:cubicBezTo>
                  <a:lnTo>
                    <a:pt x="1263767" y="92144"/>
                  </a:lnTo>
                  <a:cubicBezTo>
                    <a:pt x="1263767" y="116582"/>
                    <a:pt x="1254059" y="140019"/>
                    <a:pt x="1236778" y="157299"/>
                  </a:cubicBezTo>
                  <a:cubicBezTo>
                    <a:pt x="1219498" y="174579"/>
                    <a:pt x="1196061" y="184287"/>
                    <a:pt x="1171623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 txBox="1"/>
            <p:nvPr/>
          </p:nvSpPr>
          <p:spPr>
            <a:xfrm>
              <a:off x="0" y="-28575"/>
              <a:ext cx="1263767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8"/>
          <p:cNvSpPr txBox="1"/>
          <p:nvPr/>
        </p:nvSpPr>
        <p:spPr>
          <a:xfrm>
            <a:off x="5652398" y="2548792"/>
            <a:ext cx="6983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5">
                <a:solidFill>
                  <a:srgbClr val="FFFFFF"/>
                </a:solidFill>
              </a:rPr>
              <a:t>Implemented Contributions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376925" y="5067650"/>
            <a:ext cx="5748300" cy="23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3157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19"/>
              <a:buChar char="●"/>
            </a:pPr>
            <a:r>
              <a:rPr lang="en-US" sz="2119">
                <a:solidFill>
                  <a:schemeClr val="lt1"/>
                </a:solidFill>
              </a:rPr>
              <a:t>Combined heuristic based detection with ML-based prompt injection detection</a:t>
            </a:r>
            <a:endParaRPr sz="2119">
              <a:solidFill>
                <a:schemeClr val="lt1"/>
              </a:solidFill>
            </a:endParaRPr>
          </a:p>
          <a:p>
            <a:pPr indent="-363157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19"/>
              <a:buChar char="●"/>
            </a:pPr>
            <a:r>
              <a:rPr lang="en-US" sz="2119">
                <a:solidFill>
                  <a:schemeClr val="lt1"/>
                </a:solidFill>
              </a:rPr>
              <a:t>Leveraged </a:t>
            </a:r>
            <a:r>
              <a:rPr lang="en-US" sz="2119">
                <a:solidFill>
                  <a:schemeClr val="lt1"/>
                </a:solidFill>
              </a:rPr>
              <a:t>complementary</a:t>
            </a:r>
            <a:r>
              <a:rPr lang="en-US" sz="2119">
                <a:solidFill>
                  <a:schemeClr val="lt1"/>
                </a:solidFill>
              </a:rPr>
              <a:t> strengths to improve overall detection robustness</a:t>
            </a:r>
            <a:endParaRPr sz="2119">
              <a:solidFill>
                <a:schemeClr val="lt1"/>
              </a:solidFill>
            </a:endParaRPr>
          </a:p>
          <a:p>
            <a:pPr indent="-363157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19"/>
              <a:buChar char="●"/>
            </a:pPr>
            <a:r>
              <a:rPr lang="en-US" sz="2119">
                <a:solidFill>
                  <a:schemeClr val="lt1"/>
                </a:solidFill>
              </a:rPr>
              <a:t>Reduced reliance on a single detection method</a:t>
            </a:r>
            <a:endParaRPr sz="2119">
              <a:solidFill>
                <a:schemeClr val="lt1"/>
              </a:solidFill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684459" y="4226429"/>
            <a:ext cx="3652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Hybrid Detection System</a:t>
            </a:r>
            <a:endParaRPr sz="2681"/>
          </a:p>
        </p:txBody>
      </p:sp>
      <p:sp>
        <p:nvSpPr>
          <p:cNvPr id="211" name="Google Shape;211;p18"/>
          <p:cNvSpPr txBox="1"/>
          <p:nvPr/>
        </p:nvSpPr>
        <p:spPr>
          <a:xfrm>
            <a:off x="6506887" y="5050850"/>
            <a:ext cx="5281800" cy="23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5125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Char char="●"/>
            </a:pPr>
            <a:r>
              <a:rPr lang="en-US" sz="2150">
                <a:solidFill>
                  <a:schemeClr val="lt1"/>
                </a:solidFill>
              </a:rPr>
              <a:t>Designed a decision rule that flags prompts if either detector is triggered</a:t>
            </a:r>
            <a:endParaRPr sz="2150">
              <a:solidFill>
                <a:schemeClr val="lt1"/>
              </a:solidFill>
            </a:endParaRPr>
          </a:p>
          <a:p>
            <a:pPr indent="-365125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Char char="●"/>
            </a:pPr>
            <a:r>
              <a:rPr lang="en-US" sz="2150">
                <a:solidFill>
                  <a:schemeClr val="lt1"/>
                </a:solidFill>
              </a:rPr>
              <a:t>Simplified integration between heuristic and ML outputs</a:t>
            </a:r>
            <a:endParaRPr sz="2150">
              <a:solidFill>
                <a:schemeClr val="lt1"/>
              </a:solidFill>
            </a:endParaRPr>
          </a:p>
          <a:p>
            <a:pPr indent="-365125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Char char="●"/>
            </a:pPr>
            <a:r>
              <a:rPr lang="en-US" sz="2150">
                <a:solidFill>
                  <a:schemeClr val="lt1"/>
                </a:solidFill>
              </a:rPr>
              <a:t>Prioritized higher recall to catch more potential attacks</a:t>
            </a:r>
            <a:endParaRPr sz="2150">
              <a:solidFill>
                <a:schemeClr val="lt1"/>
              </a:solidFill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8104999" y="4226425"/>
            <a:ext cx="3441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Decision Logic</a:t>
            </a:r>
            <a:endParaRPr sz="1900"/>
          </a:p>
        </p:txBody>
      </p:sp>
      <p:sp>
        <p:nvSpPr>
          <p:cNvPr id="213" name="Google Shape;213;p18"/>
          <p:cNvSpPr txBox="1"/>
          <p:nvPr/>
        </p:nvSpPr>
        <p:spPr>
          <a:xfrm>
            <a:off x="12040450" y="5050850"/>
            <a:ext cx="6117600" cy="19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Developed a reusable analyze_prompt function to standardize detection workflow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Implemented batch processing for large prompt datasets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Structured</a:t>
            </a:r>
            <a:r>
              <a:rPr lang="en-US" sz="2100">
                <a:solidFill>
                  <a:schemeClr val="lt1"/>
                </a:solidFill>
              </a:rPr>
              <a:t> outputs for easy evaluation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12913000" y="4226425"/>
            <a:ext cx="380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1">
                <a:solidFill>
                  <a:srgbClr val="FFFFFF"/>
                </a:solidFill>
              </a:rPr>
              <a:t>Modular Analysis Function</a:t>
            </a:r>
            <a:endParaRPr sz="238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0" y="16942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506" l="0" r="0" t="-38272"/>
            </a:stretch>
          </a:blipFill>
          <a:ln>
            <a:noFill/>
          </a:ln>
        </p:spPr>
      </p:sp>
      <p:grpSp>
        <p:nvGrpSpPr>
          <p:cNvPr id="220" name="Google Shape;220;p19"/>
          <p:cNvGrpSpPr/>
          <p:nvPr/>
        </p:nvGrpSpPr>
        <p:grpSpPr>
          <a:xfrm>
            <a:off x="-642668" y="-433371"/>
            <a:ext cx="10429405" cy="11078356"/>
            <a:chOff x="0" y="-28575"/>
            <a:chExt cx="2746821" cy="2917737"/>
          </a:xfrm>
        </p:grpSpPr>
        <p:sp>
          <p:nvSpPr>
            <p:cNvPr id="221" name="Google Shape;221;p19"/>
            <p:cNvSpPr/>
            <p:nvPr/>
          </p:nvSpPr>
          <p:spPr>
            <a:xfrm>
              <a:off x="0" y="0"/>
              <a:ext cx="2746821" cy="2889162"/>
            </a:xfrm>
            <a:custGeom>
              <a:rect b="b" l="l" r="r" t="t"/>
              <a:pathLst>
                <a:path extrusionOk="0" h="2889162" w="2746821">
                  <a:moveTo>
                    <a:pt x="0" y="0"/>
                  </a:moveTo>
                  <a:lnTo>
                    <a:pt x="2746821" y="0"/>
                  </a:lnTo>
                  <a:lnTo>
                    <a:pt x="2746821" y="2889162"/>
                  </a:lnTo>
                  <a:lnTo>
                    <a:pt x="0" y="2889162"/>
                  </a:lnTo>
                  <a:close/>
                </a:path>
              </a:pathLst>
            </a:custGeom>
            <a:gradFill>
              <a:gsLst>
                <a:gs pos="0">
                  <a:srgbClr val="280F34"/>
                </a:gs>
                <a:gs pos="100000">
                  <a:srgbClr val="44072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22" name="Google Shape;222;p19"/>
            <p:cNvSpPr txBox="1"/>
            <p:nvPr/>
          </p:nvSpPr>
          <p:spPr>
            <a:xfrm>
              <a:off x="0" y="-28575"/>
              <a:ext cx="2746821" cy="2917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19"/>
          <p:cNvSpPr/>
          <p:nvPr/>
        </p:nvSpPr>
        <p:spPr>
          <a:xfrm>
            <a:off x="7624576" y="1236529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9"/>
          <p:cNvSpPr/>
          <p:nvPr/>
        </p:nvSpPr>
        <p:spPr>
          <a:xfrm>
            <a:off x="14136367" y="-433371"/>
            <a:ext cx="4597486" cy="2153729"/>
          </a:xfrm>
          <a:custGeom>
            <a:rect b="b" l="l" r="r" t="t"/>
            <a:pathLst>
              <a:path extrusionOk="0" h="2153729" w="4597486">
                <a:moveTo>
                  <a:pt x="0" y="0"/>
                </a:moveTo>
                <a:lnTo>
                  <a:pt x="4597487" y="0"/>
                </a:lnTo>
                <a:lnTo>
                  <a:pt x="4597487" y="2153729"/>
                </a:lnTo>
                <a:lnTo>
                  <a:pt x="0" y="2153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9"/>
          <p:cNvSpPr txBox="1"/>
          <p:nvPr/>
        </p:nvSpPr>
        <p:spPr>
          <a:xfrm>
            <a:off x="16600166" y="9127498"/>
            <a:ext cx="9063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</a:t>
            </a:r>
            <a:r>
              <a:rPr lang="en-US" sz="1386">
                <a:solidFill>
                  <a:srgbClr val="FFFFFF"/>
                </a:solidFill>
              </a:rPr>
              <a:t>5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50050" y="3429000"/>
            <a:ext cx="7856100" cy="3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907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Integrates Rebuff with ML prompt injection classifier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Implements a unified analysis function that process prompts through both detectors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Uses decision logic to generate a final safety verdict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Built to be easily </a:t>
            </a:r>
            <a:r>
              <a:rPr lang="en-US" sz="2619">
                <a:solidFill>
                  <a:schemeClr val="lt1"/>
                </a:solidFill>
              </a:rPr>
              <a:t>implemented into LLM pipelines as a pre-processing filter</a:t>
            </a:r>
            <a:endParaRPr sz="2619">
              <a:solidFill>
                <a:schemeClr val="lt1"/>
              </a:solidFill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-1701353" y="8711786"/>
            <a:ext cx="4597486" cy="2153729"/>
          </a:xfrm>
          <a:custGeom>
            <a:rect b="b" l="l" r="r" t="t"/>
            <a:pathLst>
              <a:path extrusionOk="0" h="2153729" w="4597486">
                <a:moveTo>
                  <a:pt x="0" y="0"/>
                </a:moveTo>
                <a:lnTo>
                  <a:pt x="4597486" y="0"/>
                </a:lnTo>
                <a:lnTo>
                  <a:pt x="4597486" y="2153729"/>
                </a:lnTo>
                <a:lnTo>
                  <a:pt x="0" y="2153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9"/>
          <p:cNvSpPr/>
          <p:nvPr/>
        </p:nvSpPr>
        <p:spPr>
          <a:xfrm>
            <a:off x="8163550" y="169425"/>
            <a:ext cx="10025487" cy="10281700"/>
          </a:xfrm>
          <a:custGeom>
            <a:rect b="b" l="l" r="r" t="t"/>
            <a:pathLst>
              <a:path extrusionOk="0" h="4534377" w="5390047">
                <a:moveTo>
                  <a:pt x="0" y="0"/>
                </a:moveTo>
                <a:lnTo>
                  <a:pt x="5390048" y="0"/>
                </a:lnTo>
                <a:lnTo>
                  <a:pt x="5390048" y="4534377"/>
                </a:lnTo>
                <a:lnTo>
                  <a:pt x="0" y="4534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9" name="Google Shape;229;p19"/>
          <p:cNvGrpSpPr/>
          <p:nvPr/>
        </p:nvGrpSpPr>
        <p:grpSpPr>
          <a:xfrm>
            <a:off x="150049" y="2444063"/>
            <a:ext cx="5758405" cy="828421"/>
            <a:chOff x="0" y="-28575"/>
            <a:chExt cx="1480500" cy="213000"/>
          </a:xfrm>
        </p:grpSpPr>
        <p:sp>
          <p:nvSpPr>
            <p:cNvPr id="230" name="Google Shape;230;p19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92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3625" lIns="93625" spcFirstLastPara="1" rIns="93625" wrap="square" tIns="93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0" y="-28575"/>
              <a:ext cx="1480500" cy="2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050" lIns="52050" spcFirstLastPara="1" rIns="52050" wrap="square" tIns="5205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4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9"/>
          <p:cNvSpPr txBox="1"/>
          <p:nvPr/>
        </p:nvSpPr>
        <p:spPr>
          <a:xfrm>
            <a:off x="1642935" y="2589323"/>
            <a:ext cx="81438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5">
                <a:solidFill>
                  <a:srgbClr val="FFFFFF"/>
                </a:solidFill>
              </a:rPr>
              <a:t>Demo Code</a:t>
            </a:r>
            <a:endParaRPr sz="900"/>
          </a:p>
        </p:txBody>
      </p:sp>
      <p:pic>
        <p:nvPicPr>
          <p:cNvPr id="233" name="Google Shape;233;p19" title="Screenshot 2026-04-27 at 7.24.32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9800" y="604500"/>
            <a:ext cx="8356676" cy="9411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0" y="16942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510" l="0" r="0" t="-38271"/>
            </a:stretch>
          </a:blipFill>
          <a:ln>
            <a:noFill/>
          </a:ln>
        </p:spPr>
      </p:sp>
      <p:grpSp>
        <p:nvGrpSpPr>
          <p:cNvPr id="239" name="Google Shape;239;p20"/>
          <p:cNvGrpSpPr/>
          <p:nvPr/>
        </p:nvGrpSpPr>
        <p:grpSpPr>
          <a:xfrm>
            <a:off x="-642668" y="-433371"/>
            <a:ext cx="10429405" cy="11078595"/>
            <a:chOff x="0" y="-28575"/>
            <a:chExt cx="2746821" cy="2917800"/>
          </a:xfrm>
        </p:grpSpPr>
        <p:sp>
          <p:nvSpPr>
            <p:cNvPr id="240" name="Google Shape;240;p20"/>
            <p:cNvSpPr/>
            <p:nvPr/>
          </p:nvSpPr>
          <p:spPr>
            <a:xfrm>
              <a:off x="0" y="0"/>
              <a:ext cx="2746821" cy="2889162"/>
            </a:xfrm>
            <a:custGeom>
              <a:rect b="b" l="l" r="r" t="t"/>
              <a:pathLst>
                <a:path extrusionOk="0" h="2889162" w="2746821">
                  <a:moveTo>
                    <a:pt x="0" y="0"/>
                  </a:moveTo>
                  <a:lnTo>
                    <a:pt x="2746821" y="0"/>
                  </a:lnTo>
                  <a:lnTo>
                    <a:pt x="2746821" y="2889162"/>
                  </a:lnTo>
                  <a:lnTo>
                    <a:pt x="0" y="2889162"/>
                  </a:lnTo>
                  <a:close/>
                </a:path>
              </a:pathLst>
            </a:custGeom>
            <a:gradFill>
              <a:gsLst>
                <a:gs pos="0">
                  <a:srgbClr val="280F34"/>
                </a:gs>
                <a:gs pos="100000">
                  <a:srgbClr val="44072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41" name="Google Shape;241;p20"/>
            <p:cNvSpPr txBox="1"/>
            <p:nvPr/>
          </p:nvSpPr>
          <p:spPr>
            <a:xfrm>
              <a:off x="0" y="-28575"/>
              <a:ext cx="2746800" cy="29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20"/>
          <p:cNvSpPr/>
          <p:nvPr/>
        </p:nvSpPr>
        <p:spPr>
          <a:xfrm>
            <a:off x="7624576" y="1236529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20"/>
          <p:cNvSpPr/>
          <p:nvPr/>
        </p:nvSpPr>
        <p:spPr>
          <a:xfrm>
            <a:off x="14136367" y="-433371"/>
            <a:ext cx="4597486" cy="2153729"/>
          </a:xfrm>
          <a:custGeom>
            <a:rect b="b" l="l" r="r" t="t"/>
            <a:pathLst>
              <a:path extrusionOk="0" h="2153729" w="4597486">
                <a:moveTo>
                  <a:pt x="0" y="0"/>
                </a:moveTo>
                <a:lnTo>
                  <a:pt x="4597487" y="0"/>
                </a:lnTo>
                <a:lnTo>
                  <a:pt x="4597487" y="2153729"/>
                </a:lnTo>
                <a:lnTo>
                  <a:pt x="0" y="2153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20"/>
          <p:cNvSpPr/>
          <p:nvPr/>
        </p:nvSpPr>
        <p:spPr>
          <a:xfrm>
            <a:off x="-1701353" y="8711786"/>
            <a:ext cx="4597486" cy="2153729"/>
          </a:xfrm>
          <a:custGeom>
            <a:rect b="b" l="l" r="r" t="t"/>
            <a:pathLst>
              <a:path extrusionOk="0" h="2153729" w="4597486">
                <a:moveTo>
                  <a:pt x="0" y="0"/>
                </a:moveTo>
                <a:lnTo>
                  <a:pt x="4597486" y="0"/>
                </a:lnTo>
                <a:lnTo>
                  <a:pt x="4597486" y="2153729"/>
                </a:lnTo>
                <a:lnTo>
                  <a:pt x="0" y="2153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5" name="Google Shape;245;p20" title="demo_code.mo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11900" y="169425"/>
            <a:ext cx="13716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/>
          <p:nvPr/>
        </p:nvSpPr>
        <p:spPr>
          <a:xfrm flipH="1">
            <a:off x="-8618294" y="-579633"/>
            <a:ext cx="10991858" cy="10991858"/>
          </a:xfrm>
          <a:custGeom>
            <a:rect b="b" l="l" r="r" t="t"/>
            <a:pathLst>
              <a:path extrusionOk="0" h="10991858" w="10991858">
                <a:moveTo>
                  <a:pt x="10991858" y="0"/>
                </a:moveTo>
                <a:lnTo>
                  <a:pt x="0" y="0"/>
                </a:lnTo>
                <a:lnTo>
                  <a:pt x="0" y="10991859"/>
                </a:lnTo>
                <a:lnTo>
                  <a:pt x="10991858" y="10991859"/>
                </a:lnTo>
                <a:lnTo>
                  <a:pt x="10991858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506" l="0" r="0" t="-38272"/>
            </a:stretch>
          </a:blipFill>
          <a:ln>
            <a:noFill/>
          </a:ln>
        </p:spPr>
      </p:sp>
      <p:sp>
        <p:nvSpPr>
          <p:cNvPr id="252" name="Google Shape;252;p21"/>
          <p:cNvSpPr/>
          <p:nvPr/>
        </p:nvSpPr>
        <p:spPr>
          <a:xfrm>
            <a:off x="7624576" y="1236529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3" name="Google Shape;253;p21"/>
          <p:cNvGrpSpPr/>
          <p:nvPr/>
        </p:nvGrpSpPr>
        <p:grpSpPr>
          <a:xfrm>
            <a:off x="-642668" y="-622834"/>
            <a:ext cx="10429405" cy="11078356"/>
            <a:chOff x="0" y="-28575"/>
            <a:chExt cx="2746821" cy="2917737"/>
          </a:xfrm>
        </p:grpSpPr>
        <p:sp>
          <p:nvSpPr>
            <p:cNvPr id="254" name="Google Shape;254;p21"/>
            <p:cNvSpPr/>
            <p:nvPr/>
          </p:nvSpPr>
          <p:spPr>
            <a:xfrm>
              <a:off x="0" y="0"/>
              <a:ext cx="2746821" cy="2889162"/>
            </a:xfrm>
            <a:custGeom>
              <a:rect b="b" l="l" r="r" t="t"/>
              <a:pathLst>
                <a:path extrusionOk="0" h="2889162" w="2746821">
                  <a:moveTo>
                    <a:pt x="0" y="0"/>
                  </a:moveTo>
                  <a:lnTo>
                    <a:pt x="2746821" y="0"/>
                  </a:lnTo>
                  <a:lnTo>
                    <a:pt x="2746821" y="2889162"/>
                  </a:lnTo>
                  <a:lnTo>
                    <a:pt x="0" y="2889162"/>
                  </a:lnTo>
                  <a:close/>
                </a:path>
              </a:pathLst>
            </a:custGeom>
            <a:gradFill>
              <a:gsLst>
                <a:gs pos="0">
                  <a:srgbClr val="280F34"/>
                </a:gs>
                <a:gs pos="100000">
                  <a:srgbClr val="44072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55" name="Google Shape;255;p21"/>
            <p:cNvSpPr txBox="1"/>
            <p:nvPr/>
          </p:nvSpPr>
          <p:spPr>
            <a:xfrm>
              <a:off x="0" y="-28575"/>
              <a:ext cx="2746821" cy="2917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p21"/>
          <p:cNvGrpSpPr/>
          <p:nvPr/>
        </p:nvGrpSpPr>
        <p:grpSpPr>
          <a:xfrm>
            <a:off x="2963463" y="2607964"/>
            <a:ext cx="4504183" cy="808216"/>
            <a:chOff x="0" y="-28575"/>
            <a:chExt cx="1480373" cy="212862"/>
          </a:xfrm>
        </p:grpSpPr>
        <p:sp>
          <p:nvSpPr>
            <p:cNvPr id="257" name="Google Shape;257;p21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 txBox="1"/>
            <p:nvPr/>
          </p:nvSpPr>
          <p:spPr>
            <a:xfrm>
              <a:off x="0" y="-28575"/>
              <a:ext cx="1480373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21"/>
          <p:cNvSpPr txBox="1"/>
          <p:nvPr/>
        </p:nvSpPr>
        <p:spPr>
          <a:xfrm>
            <a:off x="2436173" y="3707500"/>
            <a:ext cx="6069900" cy="24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Single detection method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Limited dataset evaluation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No structured pipeline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Minimal explainability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More vulnerable to complex prompts</a:t>
            </a:r>
            <a:endParaRPr sz="2619">
              <a:solidFill>
                <a:schemeClr val="lt1"/>
              </a:solidFill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651163" y="2744175"/>
            <a:ext cx="3639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1">
                <a:solidFill>
                  <a:srgbClr val="FFFFFF"/>
                </a:solidFill>
              </a:rPr>
              <a:t>PromptInjection</a:t>
            </a:r>
            <a:endParaRPr sz="3000"/>
          </a:p>
        </p:txBody>
      </p:sp>
      <p:sp>
        <p:nvSpPr>
          <p:cNvPr id="261" name="Google Shape;261;p21"/>
          <p:cNvSpPr/>
          <p:nvPr/>
        </p:nvSpPr>
        <p:spPr>
          <a:xfrm>
            <a:off x="13848774" y="1085514"/>
            <a:ext cx="7315200" cy="1064029"/>
          </a:xfrm>
          <a:custGeom>
            <a:rect b="b" l="l" r="r" t="t"/>
            <a:pathLst>
              <a:path extrusionOk="0"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2" name="Google Shape;262;p21"/>
          <p:cNvGrpSpPr/>
          <p:nvPr/>
        </p:nvGrpSpPr>
        <p:grpSpPr>
          <a:xfrm>
            <a:off x="8965049" y="2607976"/>
            <a:ext cx="5157323" cy="808194"/>
            <a:chOff x="0" y="-28575"/>
            <a:chExt cx="1480373" cy="212862"/>
          </a:xfrm>
        </p:grpSpPr>
        <p:sp>
          <p:nvSpPr>
            <p:cNvPr id="263" name="Google Shape;263;p21"/>
            <p:cNvSpPr/>
            <p:nvPr/>
          </p:nvSpPr>
          <p:spPr>
            <a:xfrm>
              <a:off x="0" y="0"/>
              <a:ext cx="1480373" cy="184287"/>
            </a:xfrm>
            <a:custGeom>
              <a:rect b="b" l="l" r="r" t="t"/>
              <a:pathLst>
                <a:path extrusionOk="0" h="184287" w="1480373">
                  <a:moveTo>
                    <a:pt x="92144" y="0"/>
                  </a:moveTo>
                  <a:lnTo>
                    <a:pt x="1388229" y="0"/>
                  </a:lnTo>
                  <a:cubicBezTo>
                    <a:pt x="1412667" y="0"/>
                    <a:pt x="1436104" y="9708"/>
                    <a:pt x="1453384" y="26988"/>
                  </a:cubicBezTo>
                  <a:cubicBezTo>
                    <a:pt x="1470665" y="44269"/>
                    <a:pt x="1480373" y="67706"/>
                    <a:pt x="1480373" y="92144"/>
                  </a:cubicBezTo>
                  <a:lnTo>
                    <a:pt x="1480373" y="92144"/>
                  </a:lnTo>
                  <a:cubicBezTo>
                    <a:pt x="1480373" y="143033"/>
                    <a:pt x="1439119" y="184287"/>
                    <a:pt x="1388229" y="184287"/>
                  </a:cubicBezTo>
                  <a:lnTo>
                    <a:pt x="92144" y="184287"/>
                  </a:lnTo>
                  <a:cubicBezTo>
                    <a:pt x="67706" y="184287"/>
                    <a:pt x="44269" y="174579"/>
                    <a:pt x="26988" y="157299"/>
                  </a:cubicBezTo>
                  <a:cubicBezTo>
                    <a:pt x="9708" y="140019"/>
                    <a:pt x="0" y="116582"/>
                    <a:pt x="0" y="92144"/>
                  </a:cubicBezTo>
                  <a:lnTo>
                    <a:pt x="0" y="92144"/>
                  </a:lnTo>
                  <a:cubicBezTo>
                    <a:pt x="0" y="67706"/>
                    <a:pt x="9708" y="44269"/>
                    <a:pt x="26988" y="26988"/>
                  </a:cubicBezTo>
                  <a:cubicBezTo>
                    <a:pt x="44269" y="9708"/>
                    <a:pt x="67706" y="0"/>
                    <a:pt x="92144" y="0"/>
                  </a:cubicBezTo>
                  <a:close/>
                </a:path>
              </a:pathLst>
            </a:custGeom>
            <a:gradFill>
              <a:gsLst>
                <a:gs pos="0">
                  <a:srgbClr val="4B1059"/>
                </a:gs>
                <a:gs pos="50000">
                  <a:srgbClr val="B3516A"/>
                </a:gs>
                <a:gs pos="100000">
                  <a:srgbClr val="88245E">
                    <a:alpha val="0"/>
                  </a:srgbClr>
                </a:gs>
              </a:gsLst>
              <a:lin ang="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0" y="-28575"/>
              <a:ext cx="1480373" cy="21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21"/>
          <p:cNvSpPr txBox="1"/>
          <p:nvPr/>
        </p:nvSpPr>
        <p:spPr>
          <a:xfrm>
            <a:off x="9500200" y="3618225"/>
            <a:ext cx="62487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Hybrid detection (Heuristic + ML)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Evaluated on 1,000 diverse prompts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Scalable batch processing pipeline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Structured outputs (scores, flags, decisions) </a:t>
            </a:r>
            <a:endParaRPr sz="2619">
              <a:solidFill>
                <a:schemeClr val="lt1"/>
              </a:solidFill>
            </a:endParaRPr>
          </a:p>
          <a:p>
            <a:pPr indent="-394907" lvl="0" marL="45720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Improved robustness and coverage</a:t>
            </a:r>
            <a:endParaRPr sz="2619">
              <a:solidFill>
                <a:schemeClr val="lt1"/>
              </a:solidFill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9081238" y="2744175"/>
            <a:ext cx="5157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1">
                <a:solidFill>
                  <a:srgbClr val="FFFFFF"/>
                </a:solidFill>
              </a:rPr>
              <a:t>Rebuff + PromptInjection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/>
          <p:nvPr/>
        </p:nvSpPr>
        <p:spPr>
          <a:xfrm flipH="1">
            <a:off x="-8618294" y="-579633"/>
            <a:ext cx="10991858" cy="10991858"/>
          </a:xfrm>
          <a:custGeom>
            <a:rect b="b" l="l" r="r" t="t"/>
            <a:pathLst>
              <a:path extrusionOk="0" h="10991858" w="10991858">
                <a:moveTo>
                  <a:pt x="10991858" y="0"/>
                </a:moveTo>
                <a:lnTo>
                  <a:pt x="0" y="0"/>
                </a:lnTo>
                <a:lnTo>
                  <a:pt x="0" y="10991859"/>
                </a:lnTo>
                <a:lnTo>
                  <a:pt x="10991858" y="10991859"/>
                </a:lnTo>
                <a:lnTo>
                  <a:pt x="10991858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510" l="0" r="0" t="-38271"/>
            </a:stretch>
          </a:blipFill>
          <a:ln>
            <a:noFill/>
          </a:ln>
        </p:spPr>
      </p:sp>
      <p:sp>
        <p:nvSpPr>
          <p:cNvPr id="273" name="Google Shape;273;p22"/>
          <p:cNvSpPr/>
          <p:nvPr/>
        </p:nvSpPr>
        <p:spPr>
          <a:xfrm>
            <a:off x="7624576" y="1236529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4" name="Google Shape;274;p22"/>
          <p:cNvGrpSpPr/>
          <p:nvPr/>
        </p:nvGrpSpPr>
        <p:grpSpPr>
          <a:xfrm>
            <a:off x="-642668" y="-622834"/>
            <a:ext cx="10429405" cy="11078595"/>
            <a:chOff x="0" y="-28575"/>
            <a:chExt cx="2746821" cy="2917800"/>
          </a:xfrm>
        </p:grpSpPr>
        <p:sp>
          <p:nvSpPr>
            <p:cNvPr id="275" name="Google Shape;275;p22"/>
            <p:cNvSpPr/>
            <p:nvPr/>
          </p:nvSpPr>
          <p:spPr>
            <a:xfrm>
              <a:off x="0" y="0"/>
              <a:ext cx="2746821" cy="2889162"/>
            </a:xfrm>
            <a:custGeom>
              <a:rect b="b" l="l" r="r" t="t"/>
              <a:pathLst>
                <a:path extrusionOk="0" h="2889162" w="2746821">
                  <a:moveTo>
                    <a:pt x="0" y="0"/>
                  </a:moveTo>
                  <a:lnTo>
                    <a:pt x="2746821" y="0"/>
                  </a:lnTo>
                  <a:lnTo>
                    <a:pt x="2746821" y="2889162"/>
                  </a:lnTo>
                  <a:lnTo>
                    <a:pt x="0" y="2889162"/>
                  </a:lnTo>
                  <a:close/>
                </a:path>
              </a:pathLst>
            </a:custGeom>
            <a:gradFill>
              <a:gsLst>
                <a:gs pos="0">
                  <a:srgbClr val="280F34"/>
                </a:gs>
                <a:gs pos="100000">
                  <a:srgbClr val="44072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76" name="Google Shape;276;p22"/>
            <p:cNvSpPr txBox="1"/>
            <p:nvPr/>
          </p:nvSpPr>
          <p:spPr>
            <a:xfrm>
              <a:off x="0" y="-28575"/>
              <a:ext cx="2746800" cy="29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22"/>
          <p:cNvSpPr txBox="1"/>
          <p:nvPr/>
        </p:nvSpPr>
        <p:spPr>
          <a:xfrm>
            <a:off x="5652398" y="2557220"/>
            <a:ext cx="6983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5">
                <a:solidFill>
                  <a:srgbClr val="FFFFFF"/>
                </a:solidFill>
              </a:rPr>
              <a:t>Conclusion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4299750" y="3829625"/>
            <a:ext cx="9688500" cy="5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chemeClr val="lt1"/>
                </a:solidFill>
              </a:rPr>
              <a:t>Our system combines heuristic and machine learning detection into a unified prompt injection guardrail that:</a:t>
            </a:r>
            <a:endParaRPr sz="2619">
              <a:solidFill>
                <a:schemeClr val="lt1"/>
              </a:solidFill>
            </a:endParaRPr>
          </a:p>
          <a:p>
            <a:pPr indent="-394907" lvl="0" marL="9144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Improves detection across diverse prompt types </a:t>
            </a:r>
            <a:endParaRPr sz="2619">
              <a:solidFill>
                <a:schemeClr val="lt1"/>
              </a:solidFill>
            </a:endParaRPr>
          </a:p>
          <a:p>
            <a:pPr indent="-394907" lvl="0" marL="9144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Handles ambiguous and paraphrased attacks </a:t>
            </a:r>
            <a:endParaRPr sz="2619">
              <a:solidFill>
                <a:schemeClr val="lt1"/>
              </a:solidFill>
            </a:endParaRPr>
          </a:p>
          <a:p>
            <a:pPr indent="-394907" lvl="0" marL="9144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Scales to large prompt datasets through batch processing </a:t>
            </a:r>
            <a:endParaRPr sz="2619">
              <a:solidFill>
                <a:schemeClr val="lt1"/>
              </a:solidFill>
            </a:endParaRPr>
          </a:p>
          <a:p>
            <a:pPr indent="-394907" lvl="0" marL="91440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19"/>
              <a:buChar char="●"/>
            </a:pPr>
            <a:r>
              <a:rPr lang="en-US" sz="2619">
                <a:solidFill>
                  <a:schemeClr val="lt1"/>
                </a:solidFill>
              </a:rPr>
              <a:t>Provides structured, explainable decision outputs </a:t>
            </a:r>
            <a:endParaRPr sz="2619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9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chemeClr val="lt1"/>
                </a:solidFill>
              </a:rPr>
              <a:t>This demonstrates the effectiveness of hybrid detection for securing real-world LLM systems.</a:t>
            </a:r>
            <a:endParaRPr sz="2619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9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9">
              <a:solidFill>
                <a:schemeClr val="lt1"/>
              </a:solidFill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13848774" y="1085514"/>
            <a:ext cx="7315200" cy="1064029"/>
          </a:xfrm>
          <a:custGeom>
            <a:rect b="b" l="l" r="r" t="t"/>
            <a:pathLst>
              <a:path extrusionOk="0"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458" l="0" r="0" t="-38320"/>
            </a:stretch>
          </a:blipFill>
          <a:ln>
            <a:noFill/>
          </a:ln>
        </p:spPr>
      </p:sp>
      <p:sp>
        <p:nvSpPr>
          <p:cNvPr id="285" name="Google Shape;285;p23"/>
          <p:cNvSpPr/>
          <p:nvPr/>
        </p:nvSpPr>
        <p:spPr>
          <a:xfrm>
            <a:off x="10371062" y="2538073"/>
            <a:ext cx="381694" cy="381000"/>
          </a:xfrm>
          <a:custGeom>
            <a:rect b="b" l="l" r="r" t="t"/>
            <a:pathLst>
              <a:path extrusionOk="0" h="381000" w="381694">
                <a:moveTo>
                  <a:pt x="0" y="0"/>
                </a:moveTo>
                <a:lnTo>
                  <a:pt x="381694" y="0"/>
                </a:lnTo>
                <a:lnTo>
                  <a:pt x="38169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23"/>
          <p:cNvSpPr/>
          <p:nvPr/>
        </p:nvSpPr>
        <p:spPr>
          <a:xfrm>
            <a:off x="4896513" y="3119813"/>
            <a:ext cx="8844091" cy="2380829"/>
          </a:xfrm>
          <a:custGeom>
            <a:rect b="b" l="l" r="r" t="t"/>
            <a:pathLst>
              <a:path extrusionOk="0" h="7440091" w="8844091">
                <a:moveTo>
                  <a:pt x="0" y="0"/>
                </a:moveTo>
                <a:lnTo>
                  <a:pt x="8844090" y="0"/>
                </a:lnTo>
                <a:lnTo>
                  <a:pt x="8844090" y="7440091"/>
                </a:lnTo>
                <a:lnTo>
                  <a:pt x="0" y="7440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23"/>
          <p:cNvSpPr/>
          <p:nvPr/>
        </p:nvSpPr>
        <p:spPr>
          <a:xfrm>
            <a:off x="4315053" y="3430235"/>
            <a:ext cx="9657880" cy="1822925"/>
          </a:xfrm>
          <a:custGeom>
            <a:rect b="b" l="l" r="r" t="t"/>
            <a:pathLst>
              <a:path extrusionOk="0" h="1470101" w="7788613">
                <a:moveTo>
                  <a:pt x="0" y="0"/>
                </a:moveTo>
                <a:lnTo>
                  <a:pt x="7788613" y="0"/>
                </a:lnTo>
                <a:lnTo>
                  <a:pt x="7788613" y="1470100"/>
                </a:lnTo>
                <a:lnTo>
                  <a:pt x="0" y="147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2863" rotWithShape="0" algn="bl" dist="11821">
              <a:srgbClr val="9900FF"/>
            </a:outerShdw>
          </a:effectLst>
        </p:spPr>
      </p:sp>
      <p:sp>
        <p:nvSpPr>
          <p:cNvPr id="288" name="Google Shape;288;p23"/>
          <p:cNvSpPr txBox="1"/>
          <p:nvPr/>
        </p:nvSpPr>
        <p:spPr>
          <a:xfrm>
            <a:off x="4674142" y="3669571"/>
            <a:ext cx="89397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2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73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